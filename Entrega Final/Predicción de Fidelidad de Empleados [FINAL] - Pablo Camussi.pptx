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aleway"/>
      <p:regular r:id="rId20"/>
      <p:bold r:id="rId21"/>
      <p:italic r:id="rId22"/>
      <p:boldItalic r:id="rId23"/>
    </p:embeddedFont>
    <p:embeddedFont>
      <p:font typeface="Roboto"/>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Roboto-regular.fntdata"/><Relationship Id="rId23" Type="http://schemas.openxmlformats.org/officeDocument/2006/relationships/font" Target="fonts/Raleway-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Lato-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69d2caebf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69d2caebf9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69d2caebf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69d2caebf9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3"/>
          <p:cNvGrpSpPr/>
          <p:nvPr/>
        </p:nvGrpSpPr>
        <p:grpSpPr>
          <a:xfrm>
            <a:off x="830392" y="1191256"/>
            <a:ext cx="745763" cy="45826"/>
            <a:chOff x="4580561" y="2589004"/>
            <a:chExt cx="1064464" cy="25200"/>
          </a:xfrm>
        </p:grpSpPr>
        <p:sp>
          <p:nvSpPr>
            <p:cNvPr id="20" name="Google Shape;20;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4"/>
          <p:cNvGrpSpPr/>
          <p:nvPr/>
        </p:nvGrpSpPr>
        <p:grpSpPr>
          <a:xfrm>
            <a:off x="830392" y="1191256"/>
            <a:ext cx="745763" cy="45826"/>
            <a:chOff x="4580561" y="2589004"/>
            <a:chExt cx="1064464" cy="25200"/>
          </a:xfrm>
        </p:grpSpPr>
        <p:sp>
          <p:nvSpPr>
            <p:cNvPr id="27" name="Google Shape;27;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4"/>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7"/>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8"/>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11"/>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
              <a:t>Predicción de fidelidad de empleados</a:t>
            </a:r>
            <a:endParaRPr/>
          </a:p>
        </p:txBody>
      </p:sp>
      <p:sp>
        <p:nvSpPr>
          <p:cNvPr id="87" name="Google Shape;87;p13"/>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605"/>
              <a:buNone/>
            </a:pPr>
            <a:r>
              <a:rPr b="1" lang="es" sz="1280"/>
              <a:t>Curso: Data Science II</a:t>
            </a:r>
            <a:endParaRPr b="1" sz="1280"/>
          </a:p>
          <a:p>
            <a:pPr indent="0" lvl="0" marL="0" rtl="0" algn="l">
              <a:lnSpc>
                <a:spcPct val="80000"/>
              </a:lnSpc>
              <a:spcBef>
                <a:spcPts val="0"/>
              </a:spcBef>
              <a:spcAft>
                <a:spcPts val="0"/>
              </a:spcAft>
              <a:buSzPts val="605"/>
              <a:buNone/>
            </a:pPr>
            <a:r>
              <a:t/>
            </a:r>
            <a:endParaRPr b="1" sz="1280"/>
          </a:p>
          <a:p>
            <a:pPr indent="0" lvl="0" marL="0" rtl="0" algn="l">
              <a:lnSpc>
                <a:spcPct val="80000"/>
              </a:lnSpc>
              <a:spcBef>
                <a:spcPts val="0"/>
              </a:spcBef>
              <a:spcAft>
                <a:spcPts val="0"/>
              </a:spcAft>
              <a:buSzPts val="605"/>
              <a:buNone/>
            </a:pPr>
            <a:r>
              <a:rPr b="1" lang="es" sz="1280"/>
              <a:t>Nombre: Pablo Camussi</a:t>
            </a:r>
            <a:endParaRPr b="1" sz="12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a:t>
            </a:r>
            <a:endParaRPr/>
          </a:p>
        </p:txBody>
      </p:sp>
      <p:sp>
        <p:nvSpPr>
          <p:cNvPr id="93" name="Google Shape;93;p1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500">
                <a:solidFill>
                  <a:schemeClr val="dk2"/>
                </a:solidFill>
                <a:latin typeface="Arial"/>
                <a:ea typeface="Arial"/>
                <a:cs typeface="Arial"/>
                <a:sym typeface="Arial"/>
              </a:rPr>
              <a:t>Obtener insights sobre las variables que llevan a un empleado a dejar o no una compañía es importante para que las mismas puedan tomar decisiones para mejorar la retención de talento y reducir costos asociados a nuevas contrataciones y capacitaciones.</a:t>
            </a:r>
            <a:endParaRPr sz="1500">
              <a:solidFill>
                <a:schemeClr val="dk2"/>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Objetivo</a:t>
            </a:r>
            <a:endParaRPr/>
          </a:p>
        </p:txBody>
      </p:sp>
      <p:sp>
        <p:nvSpPr>
          <p:cNvPr id="99" name="Google Shape;99;p1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s" sz="1500">
                <a:solidFill>
                  <a:schemeClr val="dk2"/>
                </a:solidFill>
                <a:latin typeface="Arial"/>
                <a:ea typeface="Arial"/>
                <a:cs typeface="Arial"/>
                <a:sym typeface="Arial"/>
              </a:rPr>
              <a:t>Desarrollar un análisis de un conjunto de datos elegido que nos permita obtener insights para realizar un futuro modelo de predicción de la fidelidad de los empleados.</a:t>
            </a:r>
            <a:endParaRPr sz="1500">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Dataset elegido</a:t>
            </a:r>
            <a:endParaRPr/>
          </a:p>
        </p:txBody>
      </p:sp>
      <p:sp>
        <p:nvSpPr>
          <p:cNvPr id="105" name="Google Shape;105;p1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500">
                <a:solidFill>
                  <a:schemeClr val="dk2"/>
                </a:solidFill>
                <a:latin typeface="Arial"/>
                <a:ea typeface="Arial"/>
                <a:cs typeface="Arial"/>
                <a:sym typeface="Arial"/>
              </a:rPr>
              <a:t>El dataset elegido consta de casi 60.000 registros, cada uno representando un empleado de una empresa, con columnas que nos dan datos importantes acerca de cada uno de ellos. Existe también una columna “Attrition” que va a representar si el empleado se fue o no de su empresa, la cuál será nuestra variable a predecir.</a:t>
            </a:r>
            <a:endParaRPr sz="1500">
              <a:solidFill>
                <a:schemeClr val="dk2"/>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1500">
              <a:solidFill>
                <a:schemeClr val="dk2"/>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1500">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Columnas del dataset</a:t>
            </a:r>
            <a:endParaRPr/>
          </a:p>
        </p:txBody>
      </p:sp>
      <p:sp>
        <p:nvSpPr>
          <p:cNvPr id="111" name="Google Shape;111;p1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273050" lvl="0" marL="457200" rtl="0" algn="l">
              <a:lnSpc>
                <a:spcPct val="115000"/>
              </a:lnSpc>
              <a:spcBef>
                <a:spcPts val="60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Employee ID</a:t>
            </a:r>
            <a:r>
              <a:rPr lang="es" sz="700">
                <a:solidFill>
                  <a:srgbClr val="E3E3E3"/>
                </a:solidFill>
                <a:highlight>
                  <a:srgbClr val="383838"/>
                </a:highlight>
                <a:latin typeface="Roboto"/>
                <a:ea typeface="Roboto"/>
                <a:cs typeface="Roboto"/>
                <a:sym typeface="Roboto"/>
              </a:rPr>
              <a:t>: Identificador único de cada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Age</a:t>
            </a:r>
            <a:r>
              <a:rPr lang="es" sz="700">
                <a:solidFill>
                  <a:srgbClr val="E3E3E3"/>
                </a:solidFill>
                <a:highlight>
                  <a:srgbClr val="383838"/>
                </a:highlight>
                <a:latin typeface="Roboto"/>
                <a:ea typeface="Roboto"/>
                <a:cs typeface="Roboto"/>
                <a:sym typeface="Roboto"/>
              </a:rPr>
              <a:t>: Edad del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Gender</a:t>
            </a:r>
            <a:r>
              <a:rPr lang="es" sz="700">
                <a:solidFill>
                  <a:srgbClr val="E3E3E3"/>
                </a:solidFill>
                <a:highlight>
                  <a:srgbClr val="383838"/>
                </a:highlight>
                <a:latin typeface="Roboto"/>
                <a:ea typeface="Roboto"/>
                <a:cs typeface="Roboto"/>
                <a:sym typeface="Roboto"/>
              </a:rPr>
              <a:t>: Género del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Years at Company</a:t>
            </a:r>
            <a:r>
              <a:rPr lang="es" sz="700">
                <a:solidFill>
                  <a:srgbClr val="E3E3E3"/>
                </a:solidFill>
                <a:highlight>
                  <a:srgbClr val="383838"/>
                </a:highlight>
                <a:latin typeface="Roboto"/>
                <a:ea typeface="Roboto"/>
                <a:cs typeface="Roboto"/>
                <a:sym typeface="Roboto"/>
              </a:rPr>
              <a:t>: Años que lleva el empleado trabajando en la compañía.</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Monthly Income</a:t>
            </a:r>
            <a:r>
              <a:rPr lang="es" sz="700">
                <a:solidFill>
                  <a:srgbClr val="E3E3E3"/>
                </a:solidFill>
                <a:highlight>
                  <a:srgbClr val="383838"/>
                </a:highlight>
                <a:latin typeface="Roboto"/>
                <a:ea typeface="Roboto"/>
                <a:cs typeface="Roboto"/>
                <a:sym typeface="Roboto"/>
              </a:rPr>
              <a:t>: Salario del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Job Role</a:t>
            </a:r>
            <a:r>
              <a:rPr lang="es" sz="700">
                <a:solidFill>
                  <a:srgbClr val="E3E3E3"/>
                </a:solidFill>
                <a:highlight>
                  <a:srgbClr val="383838"/>
                </a:highlight>
                <a:latin typeface="Roboto"/>
                <a:ea typeface="Roboto"/>
                <a:cs typeface="Roboto"/>
                <a:sym typeface="Roboto"/>
              </a:rPr>
              <a:t>: Departamento o rol en el que trabaja 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Work-Life Balance</a:t>
            </a:r>
            <a:r>
              <a:rPr lang="es" sz="700">
                <a:solidFill>
                  <a:srgbClr val="E3E3E3"/>
                </a:solidFill>
                <a:highlight>
                  <a:srgbClr val="383838"/>
                </a:highlight>
                <a:latin typeface="Roboto"/>
                <a:ea typeface="Roboto"/>
                <a:cs typeface="Roboto"/>
                <a:sym typeface="Roboto"/>
              </a:rPr>
              <a:t>: El sentimiento percibido por el empleado al realizar un balance entre el trabajo y su vida personal.</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Job Satisfaction</a:t>
            </a:r>
            <a:r>
              <a:rPr lang="es" sz="700">
                <a:solidFill>
                  <a:srgbClr val="E3E3E3"/>
                </a:solidFill>
                <a:highlight>
                  <a:srgbClr val="383838"/>
                </a:highlight>
                <a:latin typeface="Roboto"/>
                <a:ea typeface="Roboto"/>
                <a:cs typeface="Roboto"/>
                <a:sym typeface="Roboto"/>
              </a:rPr>
              <a:t>: El sentimiento de satisfacción del empleado con su trabajo.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Performance Rating</a:t>
            </a:r>
            <a:r>
              <a:rPr lang="es" sz="700">
                <a:solidFill>
                  <a:srgbClr val="E3E3E3"/>
                </a:solidFill>
                <a:highlight>
                  <a:srgbClr val="383838"/>
                </a:highlight>
                <a:latin typeface="Roboto"/>
                <a:ea typeface="Roboto"/>
                <a:cs typeface="Roboto"/>
                <a:sym typeface="Roboto"/>
              </a:rPr>
              <a:t>: Nota de performance del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Number of Promotions</a:t>
            </a:r>
            <a:r>
              <a:rPr lang="es" sz="700">
                <a:solidFill>
                  <a:srgbClr val="E3E3E3"/>
                </a:solidFill>
                <a:highlight>
                  <a:srgbClr val="383838"/>
                </a:highlight>
                <a:latin typeface="Roboto"/>
                <a:ea typeface="Roboto"/>
                <a:cs typeface="Roboto"/>
                <a:sym typeface="Roboto"/>
              </a:rPr>
              <a:t>: Número de promociones de puesto del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Distance from Home</a:t>
            </a:r>
            <a:r>
              <a:rPr lang="es" sz="700">
                <a:solidFill>
                  <a:srgbClr val="E3E3E3"/>
                </a:solidFill>
                <a:highlight>
                  <a:srgbClr val="383838"/>
                </a:highlight>
                <a:latin typeface="Roboto"/>
                <a:ea typeface="Roboto"/>
                <a:cs typeface="Roboto"/>
                <a:sym typeface="Roboto"/>
              </a:rPr>
              <a:t>: La distancia entre el lugar de trabajo del empleado y su casa, en millas.</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Education Level</a:t>
            </a:r>
            <a:r>
              <a:rPr lang="es" sz="700">
                <a:solidFill>
                  <a:srgbClr val="E3E3E3"/>
                </a:solidFill>
                <a:highlight>
                  <a:srgbClr val="383838"/>
                </a:highlight>
                <a:latin typeface="Roboto"/>
                <a:ea typeface="Roboto"/>
                <a:cs typeface="Roboto"/>
                <a:sym typeface="Roboto"/>
              </a:rPr>
              <a:t>: Nivel de educación del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Marital Status</a:t>
            </a:r>
            <a:r>
              <a:rPr lang="es" sz="700">
                <a:solidFill>
                  <a:srgbClr val="E3E3E3"/>
                </a:solidFill>
                <a:highlight>
                  <a:srgbClr val="383838"/>
                </a:highlight>
                <a:latin typeface="Roboto"/>
                <a:ea typeface="Roboto"/>
                <a:cs typeface="Roboto"/>
                <a:sym typeface="Roboto"/>
              </a:rPr>
              <a:t>: Estado civil del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Job Level</a:t>
            </a:r>
            <a:r>
              <a:rPr lang="es" sz="700">
                <a:solidFill>
                  <a:srgbClr val="E3E3E3"/>
                </a:solidFill>
                <a:highlight>
                  <a:srgbClr val="383838"/>
                </a:highlight>
                <a:latin typeface="Roboto"/>
                <a:ea typeface="Roboto"/>
                <a:cs typeface="Roboto"/>
                <a:sym typeface="Roboto"/>
              </a:rPr>
              <a:t>: Seniority del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Company Size</a:t>
            </a:r>
            <a:r>
              <a:rPr lang="es" sz="700">
                <a:solidFill>
                  <a:srgbClr val="E3E3E3"/>
                </a:solidFill>
                <a:highlight>
                  <a:srgbClr val="383838"/>
                </a:highlight>
                <a:latin typeface="Roboto"/>
                <a:ea typeface="Roboto"/>
                <a:cs typeface="Roboto"/>
                <a:sym typeface="Roboto"/>
              </a:rPr>
              <a:t>: Tamaño de la compañía en la que trabaja 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Company Tenure</a:t>
            </a:r>
            <a:r>
              <a:rPr lang="es" sz="700">
                <a:solidFill>
                  <a:srgbClr val="E3E3E3"/>
                </a:solidFill>
                <a:highlight>
                  <a:srgbClr val="383838"/>
                </a:highlight>
                <a:latin typeface="Roboto"/>
                <a:ea typeface="Roboto"/>
                <a:cs typeface="Roboto"/>
                <a:sym typeface="Roboto"/>
              </a:rPr>
              <a:t>: Número total de años en las que el empleado lleva trabajando en la industria.</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Remote Work</a:t>
            </a:r>
            <a:r>
              <a:rPr lang="es" sz="700">
                <a:solidFill>
                  <a:srgbClr val="E3E3E3"/>
                </a:solidFill>
                <a:highlight>
                  <a:srgbClr val="383838"/>
                </a:highlight>
                <a:latin typeface="Roboto"/>
                <a:ea typeface="Roboto"/>
                <a:cs typeface="Roboto"/>
                <a:sym typeface="Roboto"/>
              </a:rPr>
              <a:t>: Si el empleado realiza trabajo remoto o no.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Leadership Opportunities</a:t>
            </a:r>
            <a:r>
              <a:rPr lang="es" sz="700">
                <a:solidFill>
                  <a:srgbClr val="E3E3E3"/>
                </a:solidFill>
                <a:highlight>
                  <a:srgbClr val="383838"/>
                </a:highlight>
                <a:latin typeface="Roboto"/>
                <a:ea typeface="Roboto"/>
                <a:cs typeface="Roboto"/>
                <a:sym typeface="Roboto"/>
              </a:rPr>
              <a:t>: Si el empleado tiene oportunidades de liderar equipos o no.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Innovation Opportunities</a:t>
            </a:r>
            <a:r>
              <a:rPr lang="es" sz="700">
                <a:solidFill>
                  <a:srgbClr val="E3E3E3"/>
                </a:solidFill>
                <a:highlight>
                  <a:srgbClr val="383838"/>
                </a:highlight>
                <a:latin typeface="Roboto"/>
                <a:ea typeface="Roboto"/>
                <a:cs typeface="Roboto"/>
                <a:sym typeface="Roboto"/>
              </a:rPr>
              <a:t>: Si el empleado tiene oportunidades de innovar o no.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Company Reputation</a:t>
            </a:r>
            <a:r>
              <a:rPr lang="es" sz="700">
                <a:solidFill>
                  <a:srgbClr val="E3E3E3"/>
                </a:solidFill>
                <a:highlight>
                  <a:srgbClr val="383838"/>
                </a:highlight>
                <a:latin typeface="Roboto"/>
                <a:ea typeface="Roboto"/>
                <a:cs typeface="Roboto"/>
                <a:sym typeface="Roboto"/>
              </a:rPr>
              <a:t>: La percepción del empleado de la reputación de la compañía.</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Employee Recognition</a:t>
            </a:r>
            <a:r>
              <a:rPr lang="es" sz="700">
                <a:solidFill>
                  <a:srgbClr val="E3E3E3"/>
                </a:solidFill>
                <a:highlight>
                  <a:srgbClr val="383838"/>
                </a:highlight>
                <a:latin typeface="Roboto"/>
                <a:ea typeface="Roboto"/>
                <a:cs typeface="Roboto"/>
                <a:sym typeface="Roboto"/>
              </a:rPr>
              <a:t>: El nivel de reconocimiento que recibe el empleado.</a:t>
            </a:r>
            <a:endParaRPr sz="700">
              <a:solidFill>
                <a:srgbClr val="E3E3E3"/>
              </a:solidFill>
              <a:highlight>
                <a:srgbClr val="383838"/>
              </a:highlight>
              <a:latin typeface="Roboto"/>
              <a:ea typeface="Roboto"/>
              <a:cs typeface="Roboto"/>
              <a:sym typeface="Roboto"/>
            </a:endParaRPr>
          </a:p>
          <a:p>
            <a:pPr indent="-273050" lvl="0" marL="457200" rtl="0" algn="l">
              <a:lnSpc>
                <a:spcPct val="115000"/>
              </a:lnSpc>
              <a:spcBef>
                <a:spcPts val="0"/>
              </a:spcBef>
              <a:spcAft>
                <a:spcPts val="0"/>
              </a:spcAft>
              <a:buClr>
                <a:srgbClr val="E3E3E3"/>
              </a:buClr>
              <a:buSzPts val="700"/>
              <a:buFont typeface="Roboto"/>
              <a:buChar char="●"/>
            </a:pPr>
            <a:r>
              <a:rPr b="1" lang="es" sz="700">
                <a:solidFill>
                  <a:srgbClr val="E3E3E3"/>
                </a:solidFill>
                <a:highlight>
                  <a:srgbClr val="383838"/>
                </a:highlight>
                <a:latin typeface="Roboto"/>
                <a:ea typeface="Roboto"/>
                <a:cs typeface="Roboto"/>
                <a:sym typeface="Roboto"/>
              </a:rPr>
              <a:t>Attrition</a:t>
            </a:r>
            <a:r>
              <a:rPr lang="es" sz="700">
                <a:solidFill>
                  <a:srgbClr val="E3E3E3"/>
                </a:solidFill>
                <a:highlight>
                  <a:srgbClr val="383838"/>
                </a:highlight>
                <a:latin typeface="Roboto"/>
                <a:ea typeface="Roboto"/>
                <a:cs typeface="Roboto"/>
                <a:sym typeface="Roboto"/>
              </a:rPr>
              <a:t>: Si el empleado dejó la compañía o no. Variable target a predecir.</a:t>
            </a:r>
            <a:endParaRPr sz="700">
              <a:solidFill>
                <a:srgbClr val="E3E3E3"/>
              </a:solidFill>
              <a:highlight>
                <a:srgbClr val="383838"/>
              </a:highlight>
              <a:latin typeface="Roboto"/>
              <a:ea typeface="Roboto"/>
              <a:cs typeface="Roboto"/>
              <a:sym typeface="Roboto"/>
            </a:endParaRPr>
          </a:p>
          <a:p>
            <a:pPr indent="0" lvl="0" marL="0" rtl="0" algn="l">
              <a:lnSpc>
                <a:spcPct val="115000"/>
              </a:lnSpc>
              <a:spcBef>
                <a:spcPts val="600"/>
              </a:spcBef>
              <a:spcAft>
                <a:spcPts val="1200"/>
              </a:spcAft>
              <a:buSzPts val="1300"/>
              <a:buNone/>
            </a:pPr>
            <a:r>
              <a:t/>
            </a:r>
            <a:endParaRPr sz="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Variable target: “Attrition”</a:t>
            </a:r>
            <a:endParaRPr/>
          </a:p>
        </p:txBody>
      </p:sp>
      <p:sp>
        <p:nvSpPr>
          <p:cNvPr id="117" name="Google Shape;117;p18"/>
          <p:cNvSpPr txBox="1"/>
          <p:nvPr/>
        </p:nvSpPr>
        <p:spPr>
          <a:xfrm>
            <a:off x="5001425" y="2272850"/>
            <a:ext cx="38778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Arial"/>
                <a:ea typeface="Arial"/>
                <a:cs typeface="Arial"/>
                <a:sym typeface="Arial"/>
              </a:rPr>
              <a:t>Vemos que nuestro conjunto de datos contiene casos bastante balanceados para ambos valores posibles.</a:t>
            </a:r>
            <a:endParaRPr b="0" i="0" sz="1500" u="none" cap="none" strike="noStrike">
              <a:solidFill>
                <a:schemeClr val="dk2"/>
              </a:solidFill>
              <a:latin typeface="Arial"/>
              <a:ea typeface="Arial"/>
              <a:cs typeface="Arial"/>
              <a:sym typeface="Arial"/>
            </a:endParaRPr>
          </a:p>
        </p:txBody>
      </p:sp>
      <p:pic>
        <p:nvPicPr>
          <p:cNvPr id="118" name="Google Shape;118;p18"/>
          <p:cNvPicPr preferRelativeResize="0"/>
          <p:nvPr/>
        </p:nvPicPr>
        <p:blipFill rotWithShape="1">
          <a:blip r:embed="rId3">
            <a:alphaModFix/>
          </a:blip>
          <a:srcRect b="0" l="0" r="0" t="0"/>
          <a:stretch/>
        </p:blipFill>
        <p:spPr>
          <a:xfrm>
            <a:off x="729450" y="1853850"/>
            <a:ext cx="3898125" cy="2984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2040"/>
              <a:t>Pregunta 1: ¿Qué factores influyen más en la decisión de un empleado de dejar o no la compañía?</a:t>
            </a:r>
            <a:endParaRPr sz="2040"/>
          </a:p>
        </p:txBody>
      </p:sp>
      <p:pic>
        <p:nvPicPr>
          <p:cNvPr id="124" name="Google Shape;124;p19"/>
          <p:cNvPicPr preferRelativeResize="0"/>
          <p:nvPr/>
        </p:nvPicPr>
        <p:blipFill rotWithShape="1">
          <a:blip r:embed="rId3">
            <a:alphaModFix/>
          </a:blip>
          <a:srcRect b="0" l="0" r="0" t="0"/>
          <a:stretch/>
        </p:blipFill>
        <p:spPr>
          <a:xfrm>
            <a:off x="729450" y="2113950"/>
            <a:ext cx="4734575" cy="2791650"/>
          </a:xfrm>
          <a:prstGeom prst="rect">
            <a:avLst/>
          </a:prstGeom>
          <a:noFill/>
          <a:ln>
            <a:noFill/>
          </a:ln>
        </p:spPr>
      </p:pic>
      <p:pic>
        <p:nvPicPr>
          <p:cNvPr id="125" name="Google Shape;125;p19"/>
          <p:cNvPicPr preferRelativeResize="0"/>
          <p:nvPr/>
        </p:nvPicPr>
        <p:blipFill rotWithShape="1">
          <a:blip r:embed="rId4">
            <a:alphaModFix/>
          </a:blip>
          <a:srcRect b="0" l="0" r="0" t="0"/>
          <a:stretch/>
        </p:blipFill>
        <p:spPr>
          <a:xfrm>
            <a:off x="5706400" y="2241900"/>
            <a:ext cx="2438400" cy="838200"/>
          </a:xfrm>
          <a:prstGeom prst="rect">
            <a:avLst/>
          </a:prstGeom>
          <a:noFill/>
          <a:ln>
            <a:noFill/>
          </a:ln>
        </p:spPr>
      </p:pic>
      <p:sp>
        <p:nvSpPr>
          <p:cNvPr id="126" name="Google Shape;126;p19"/>
          <p:cNvSpPr txBox="1"/>
          <p:nvPr/>
        </p:nvSpPr>
        <p:spPr>
          <a:xfrm>
            <a:off x="5568475" y="3195150"/>
            <a:ext cx="35082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Arial"/>
                <a:ea typeface="Arial"/>
                <a:cs typeface="Arial"/>
                <a:sym typeface="Arial"/>
              </a:rPr>
              <a:t>Podemos ver que para los casos ‘Divorced’ y ‘Married’ es mayor la tendencia a quedarse. En cambio, en el caso ‘Single’ la tendencia es muy marcada hacia dejar la compañía.</a:t>
            </a:r>
            <a:endParaRPr b="0" i="0" sz="1500" u="none" cap="none" strike="noStrike">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2040"/>
              <a:t>Pregunta 1: ¿Qué factores influyen más en la decisión de un empleado de dejar o no la compañía?</a:t>
            </a:r>
            <a:endParaRPr sz="2040"/>
          </a:p>
        </p:txBody>
      </p:sp>
      <p:sp>
        <p:nvSpPr>
          <p:cNvPr id="132" name="Google Shape;132;p20"/>
          <p:cNvSpPr txBox="1"/>
          <p:nvPr/>
        </p:nvSpPr>
        <p:spPr>
          <a:xfrm>
            <a:off x="5767150" y="3195150"/>
            <a:ext cx="35082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Arial"/>
                <a:ea typeface="Arial"/>
                <a:cs typeface="Arial"/>
                <a:sym typeface="Arial"/>
              </a:rPr>
              <a:t>En este caso, existe una tendencia muy marcada a quedarse en la compañía en los casos de empleados con un ‘Job Level’ Senior. Mientras que empleados con un ‘Job Level’ Entry tienden a dejarla.</a:t>
            </a:r>
            <a:endParaRPr b="0" i="0" sz="1500" u="none" cap="none" strike="noStrike">
              <a:solidFill>
                <a:schemeClr val="dk2"/>
              </a:solidFill>
              <a:latin typeface="Arial"/>
              <a:ea typeface="Arial"/>
              <a:cs typeface="Arial"/>
              <a:sym typeface="Arial"/>
            </a:endParaRPr>
          </a:p>
        </p:txBody>
      </p:sp>
      <p:pic>
        <p:nvPicPr>
          <p:cNvPr id="133" name="Google Shape;133;p20"/>
          <p:cNvPicPr preferRelativeResize="0"/>
          <p:nvPr/>
        </p:nvPicPr>
        <p:blipFill rotWithShape="1">
          <a:blip r:embed="rId3">
            <a:alphaModFix/>
          </a:blip>
          <a:srcRect b="0" l="0" r="0" t="0"/>
          <a:stretch/>
        </p:blipFill>
        <p:spPr>
          <a:xfrm>
            <a:off x="5868150" y="2185988"/>
            <a:ext cx="2114550" cy="771525"/>
          </a:xfrm>
          <a:prstGeom prst="rect">
            <a:avLst/>
          </a:prstGeom>
          <a:noFill/>
          <a:ln>
            <a:noFill/>
          </a:ln>
        </p:spPr>
      </p:pic>
      <p:pic>
        <p:nvPicPr>
          <p:cNvPr id="134" name="Google Shape;134;p20"/>
          <p:cNvPicPr preferRelativeResize="0"/>
          <p:nvPr/>
        </p:nvPicPr>
        <p:blipFill rotWithShape="1">
          <a:blip r:embed="rId4">
            <a:alphaModFix/>
          </a:blip>
          <a:srcRect b="0" l="0" r="0" t="0"/>
          <a:stretch/>
        </p:blipFill>
        <p:spPr>
          <a:xfrm>
            <a:off x="729450" y="2120700"/>
            <a:ext cx="4839024" cy="28509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2040"/>
              <a:t>Pregunta 1: ¿Qué factores influyen más en la decisión de un empleado de dejar o no la compañía?</a:t>
            </a:r>
            <a:endParaRPr sz="2040"/>
          </a:p>
        </p:txBody>
      </p:sp>
      <p:pic>
        <p:nvPicPr>
          <p:cNvPr id="140" name="Google Shape;140;p21"/>
          <p:cNvPicPr preferRelativeResize="0"/>
          <p:nvPr/>
        </p:nvPicPr>
        <p:blipFill rotWithShape="1">
          <a:blip r:embed="rId3">
            <a:alphaModFix/>
          </a:blip>
          <a:srcRect b="0" l="0" r="0" t="0"/>
          <a:stretch/>
        </p:blipFill>
        <p:spPr>
          <a:xfrm>
            <a:off x="729450" y="2093775"/>
            <a:ext cx="4177725" cy="2461368"/>
          </a:xfrm>
          <a:prstGeom prst="rect">
            <a:avLst/>
          </a:prstGeom>
          <a:noFill/>
          <a:ln>
            <a:noFill/>
          </a:ln>
        </p:spPr>
      </p:pic>
      <p:pic>
        <p:nvPicPr>
          <p:cNvPr id="141" name="Google Shape;141;p21"/>
          <p:cNvPicPr preferRelativeResize="0"/>
          <p:nvPr/>
        </p:nvPicPr>
        <p:blipFill rotWithShape="1">
          <a:blip r:embed="rId4">
            <a:alphaModFix/>
          </a:blip>
          <a:srcRect b="0" l="0" r="0" t="0"/>
          <a:stretch/>
        </p:blipFill>
        <p:spPr>
          <a:xfrm>
            <a:off x="5163000" y="2174575"/>
            <a:ext cx="3727600" cy="2380574"/>
          </a:xfrm>
          <a:prstGeom prst="rect">
            <a:avLst/>
          </a:prstGeom>
          <a:noFill/>
          <a:ln>
            <a:noFill/>
          </a:ln>
        </p:spPr>
      </p:pic>
      <p:sp>
        <p:nvSpPr>
          <p:cNvPr id="142" name="Google Shape;142;p21"/>
          <p:cNvSpPr txBox="1"/>
          <p:nvPr/>
        </p:nvSpPr>
        <p:spPr>
          <a:xfrm>
            <a:off x="1029375" y="4555150"/>
            <a:ext cx="387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Arial"/>
                <a:ea typeface="Arial"/>
                <a:cs typeface="Arial"/>
                <a:sym typeface="Arial"/>
              </a:rPr>
              <a:t>Los empleados que realizan trabajo remoto tienden más a quedarse.</a:t>
            </a:r>
            <a:endParaRPr b="0" i="0" sz="1500" u="none" cap="none" strike="noStrike">
              <a:solidFill>
                <a:schemeClr val="dk2"/>
              </a:solidFill>
              <a:latin typeface="Arial"/>
              <a:ea typeface="Arial"/>
              <a:cs typeface="Arial"/>
              <a:sym typeface="Arial"/>
            </a:endParaRPr>
          </a:p>
        </p:txBody>
      </p:sp>
      <p:sp>
        <p:nvSpPr>
          <p:cNvPr id="143" name="Google Shape;143;p21"/>
          <p:cNvSpPr txBox="1"/>
          <p:nvPr/>
        </p:nvSpPr>
        <p:spPr>
          <a:xfrm>
            <a:off x="5194250" y="4555150"/>
            <a:ext cx="387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Arial"/>
                <a:ea typeface="Arial"/>
                <a:cs typeface="Arial"/>
                <a:sym typeface="Arial"/>
              </a:rPr>
              <a:t>Los empleados que poseen un doctorado tienden más a quedarse.</a:t>
            </a:r>
            <a:endParaRPr b="0" i="0" sz="1500" u="none" cap="none" strike="noStrike">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2040"/>
              <a:t>Pregunta 2: ¿Existe alguna relación entre el desempeño del empleado y su decisión de irse?</a:t>
            </a:r>
            <a:endParaRPr sz="2040"/>
          </a:p>
        </p:txBody>
      </p:sp>
      <p:pic>
        <p:nvPicPr>
          <p:cNvPr id="149" name="Google Shape;149;p22"/>
          <p:cNvPicPr preferRelativeResize="0"/>
          <p:nvPr/>
        </p:nvPicPr>
        <p:blipFill rotWithShape="1">
          <a:blip r:embed="rId3">
            <a:alphaModFix/>
          </a:blip>
          <a:srcRect b="0" l="0" r="0" t="0"/>
          <a:stretch/>
        </p:blipFill>
        <p:spPr>
          <a:xfrm>
            <a:off x="852575" y="2167850"/>
            <a:ext cx="2452300" cy="1943425"/>
          </a:xfrm>
          <a:prstGeom prst="rect">
            <a:avLst/>
          </a:prstGeom>
          <a:noFill/>
          <a:ln>
            <a:noFill/>
          </a:ln>
        </p:spPr>
      </p:pic>
      <p:pic>
        <p:nvPicPr>
          <p:cNvPr id="150" name="Google Shape;150;p22"/>
          <p:cNvPicPr preferRelativeResize="0"/>
          <p:nvPr/>
        </p:nvPicPr>
        <p:blipFill rotWithShape="1">
          <a:blip r:embed="rId4">
            <a:alphaModFix/>
          </a:blip>
          <a:srcRect b="0" l="0" r="0" t="0"/>
          <a:stretch/>
        </p:blipFill>
        <p:spPr>
          <a:xfrm>
            <a:off x="3454601" y="2379850"/>
            <a:ext cx="2772100" cy="1231350"/>
          </a:xfrm>
          <a:prstGeom prst="rect">
            <a:avLst/>
          </a:prstGeom>
          <a:noFill/>
          <a:ln>
            <a:noFill/>
          </a:ln>
        </p:spPr>
      </p:pic>
      <p:pic>
        <p:nvPicPr>
          <p:cNvPr id="151" name="Google Shape;151;p22"/>
          <p:cNvPicPr preferRelativeResize="0"/>
          <p:nvPr/>
        </p:nvPicPr>
        <p:blipFill rotWithShape="1">
          <a:blip r:embed="rId5">
            <a:alphaModFix/>
          </a:blip>
          <a:srcRect b="0" l="0" r="0" t="0"/>
          <a:stretch/>
        </p:blipFill>
        <p:spPr>
          <a:xfrm>
            <a:off x="6428675" y="2324600"/>
            <a:ext cx="2538101" cy="1597650"/>
          </a:xfrm>
          <a:prstGeom prst="rect">
            <a:avLst/>
          </a:prstGeom>
          <a:noFill/>
          <a:ln>
            <a:noFill/>
          </a:ln>
        </p:spPr>
      </p:pic>
      <p:sp>
        <p:nvSpPr>
          <p:cNvPr id="152" name="Google Shape;152;p22"/>
          <p:cNvSpPr txBox="1"/>
          <p:nvPr/>
        </p:nvSpPr>
        <p:spPr>
          <a:xfrm>
            <a:off x="1042825" y="4111275"/>
            <a:ext cx="78498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Arial"/>
                <a:ea typeface="Arial"/>
                <a:cs typeface="Arial"/>
                <a:sym typeface="Arial"/>
              </a:rPr>
              <a:t>Para ‘Number of Promotions’, los empleados que se quedan tienen mayor tendencia en valores de 3 o 4 promociones por empleado. En el caso de años en la compañía, vemos cómo a mayor antigüedad en la empresa, mayor proporción de empleados que se quedan.</a:t>
            </a:r>
            <a:endParaRPr b="0" i="0" sz="15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2040"/>
              <a:t>Pregunta 3: ¿La decisión de los empleados está influida por las oportunidades de innovación y liderazgo?</a:t>
            </a:r>
            <a:endParaRPr sz="2040"/>
          </a:p>
        </p:txBody>
      </p:sp>
      <p:pic>
        <p:nvPicPr>
          <p:cNvPr id="158" name="Google Shape;158;p23"/>
          <p:cNvPicPr preferRelativeResize="0"/>
          <p:nvPr/>
        </p:nvPicPr>
        <p:blipFill rotWithShape="1">
          <a:blip r:embed="rId3">
            <a:alphaModFix/>
          </a:blip>
          <a:srcRect b="0" l="0" r="0" t="0"/>
          <a:stretch/>
        </p:blipFill>
        <p:spPr>
          <a:xfrm>
            <a:off x="729450" y="2140900"/>
            <a:ext cx="3842551" cy="2263887"/>
          </a:xfrm>
          <a:prstGeom prst="rect">
            <a:avLst/>
          </a:prstGeom>
          <a:noFill/>
          <a:ln>
            <a:noFill/>
          </a:ln>
        </p:spPr>
      </p:pic>
      <p:pic>
        <p:nvPicPr>
          <p:cNvPr id="159" name="Google Shape;159;p23"/>
          <p:cNvPicPr preferRelativeResize="0"/>
          <p:nvPr/>
        </p:nvPicPr>
        <p:blipFill rotWithShape="1">
          <a:blip r:embed="rId4">
            <a:alphaModFix/>
          </a:blip>
          <a:srcRect b="0" l="0" r="0" t="0"/>
          <a:stretch/>
        </p:blipFill>
        <p:spPr>
          <a:xfrm>
            <a:off x="4950600" y="2139613"/>
            <a:ext cx="3842551" cy="2266447"/>
          </a:xfrm>
          <a:prstGeom prst="rect">
            <a:avLst/>
          </a:prstGeom>
          <a:noFill/>
          <a:ln>
            <a:noFill/>
          </a:ln>
        </p:spPr>
      </p:pic>
      <p:sp>
        <p:nvSpPr>
          <p:cNvPr id="160" name="Google Shape;160;p23"/>
          <p:cNvSpPr txBox="1"/>
          <p:nvPr/>
        </p:nvSpPr>
        <p:spPr>
          <a:xfrm>
            <a:off x="1756400" y="4497000"/>
            <a:ext cx="58101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Arial"/>
                <a:ea typeface="Arial"/>
                <a:cs typeface="Arial"/>
                <a:sym typeface="Arial"/>
              </a:rPr>
              <a:t>No existe un gran desbalance cuando se analizan estas variables por separado.</a:t>
            </a:r>
            <a:endParaRPr b="0" i="0" sz="1500" u="none" cap="none" strike="noStrik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2040"/>
              <a:t>Pregunta 3: ¿La decisión de los empleados está influida por las oportunidades de innovación y liderazgo?</a:t>
            </a:r>
            <a:endParaRPr sz="2040"/>
          </a:p>
        </p:txBody>
      </p:sp>
      <p:pic>
        <p:nvPicPr>
          <p:cNvPr id="166" name="Google Shape;166;p24"/>
          <p:cNvPicPr preferRelativeResize="0"/>
          <p:nvPr/>
        </p:nvPicPr>
        <p:blipFill rotWithShape="1">
          <a:blip r:embed="rId3">
            <a:alphaModFix/>
          </a:blip>
          <a:srcRect b="0" l="0" r="0" t="0"/>
          <a:stretch/>
        </p:blipFill>
        <p:spPr>
          <a:xfrm>
            <a:off x="729450" y="2302475"/>
            <a:ext cx="4231575" cy="1895475"/>
          </a:xfrm>
          <a:prstGeom prst="rect">
            <a:avLst/>
          </a:prstGeom>
          <a:noFill/>
          <a:ln>
            <a:noFill/>
          </a:ln>
        </p:spPr>
      </p:pic>
      <p:sp>
        <p:nvSpPr>
          <p:cNvPr id="167" name="Google Shape;167;p24"/>
          <p:cNvSpPr txBox="1"/>
          <p:nvPr/>
        </p:nvSpPr>
        <p:spPr>
          <a:xfrm>
            <a:off x="5391875" y="2302475"/>
            <a:ext cx="34611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Arial"/>
                <a:ea typeface="Arial"/>
                <a:cs typeface="Arial"/>
                <a:sym typeface="Arial"/>
              </a:rPr>
              <a:t>Sin embargo, si existe una leve tendencia a quedarse en empleados que reciben más oportunidades de liderazgo e innovación en conjunto.</a:t>
            </a:r>
            <a:endParaRPr b="0" i="0" sz="1500" u="none" cap="none" strike="noStrike">
              <a:solidFill>
                <a:schemeClr val="dk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2040"/>
              <a:t>Modelos</a:t>
            </a:r>
            <a:endParaRPr sz="2040"/>
          </a:p>
        </p:txBody>
      </p:sp>
      <p:sp>
        <p:nvSpPr>
          <p:cNvPr id="173" name="Google Shape;173;p25"/>
          <p:cNvSpPr txBox="1"/>
          <p:nvPr/>
        </p:nvSpPr>
        <p:spPr>
          <a:xfrm>
            <a:off x="729450" y="1976625"/>
            <a:ext cx="8058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En base al análisis realizado se van a utilizar distintos modelos de predicción para obtener la mayor precisión posible al predecir la variable “Attrition”.</a:t>
            </a:r>
            <a:endParaRPr sz="15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2040"/>
              <a:t>Modelos</a:t>
            </a:r>
            <a:endParaRPr sz="2040"/>
          </a:p>
        </p:txBody>
      </p:sp>
      <p:sp>
        <p:nvSpPr>
          <p:cNvPr id="179" name="Google Shape;179;p26"/>
          <p:cNvSpPr txBox="1"/>
          <p:nvPr/>
        </p:nvSpPr>
        <p:spPr>
          <a:xfrm>
            <a:off x="3146375" y="1774925"/>
            <a:ext cx="80586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Vemos que el modelo de mayor precisión es el RandomForest. El</a:t>
            </a:r>
            <a:endParaRPr sz="1500">
              <a:solidFill>
                <a:schemeClr val="dk2"/>
              </a:solidFill>
            </a:endParaRPr>
          </a:p>
          <a:p>
            <a:pPr indent="0" lvl="0" marL="0" rtl="0" algn="l">
              <a:spcBef>
                <a:spcPts val="0"/>
              </a:spcBef>
              <a:spcAft>
                <a:spcPts val="0"/>
              </a:spcAft>
              <a:buNone/>
            </a:pPr>
            <a:r>
              <a:rPr lang="es" sz="1500">
                <a:solidFill>
                  <a:schemeClr val="dk2"/>
                </a:solidFill>
              </a:rPr>
              <a:t>mismo tiene una precisión de 0.79 para casos ‘Stayed’ y 0.75 para</a:t>
            </a:r>
            <a:endParaRPr sz="1500">
              <a:solidFill>
                <a:schemeClr val="dk2"/>
              </a:solidFill>
            </a:endParaRPr>
          </a:p>
          <a:p>
            <a:pPr indent="0" lvl="0" marL="0" rtl="0" algn="l">
              <a:spcBef>
                <a:spcPts val="0"/>
              </a:spcBef>
              <a:spcAft>
                <a:spcPts val="0"/>
              </a:spcAft>
              <a:buNone/>
            </a:pPr>
            <a:r>
              <a:rPr lang="es" sz="1500">
                <a:solidFill>
                  <a:schemeClr val="dk2"/>
                </a:solidFill>
              </a:rPr>
              <a:t>casos ‘Left’.</a:t>
            </a:r>
            <a:endParaRPr sz="1500">
              <a:solidFill>
                <a:schemeClr val="dk2"/>
              </a:solidFill>
            </a:endParaRPr>
          </a:p>
        </p:txBody>
      </p:sp>
      <p:pic>
        <p:nvPicPr>
          <p:cNvPr id="180" name="Google Shape;180;p26"/>
          <p:cNvPicPr preferRelativeResize="0"/>
          <p:nvPr/>
        </p:nvPicPr>
        <p:blipFill>
          <a:blip r:embed="rId3">
            <a:alphaModFix/>
          </a:blip>
          <a:stretch>
            <a:fillRect/>
          </a:stretch>
        </p:blipFill>
        <p:spPr>
          <a:xfrm>
            <a:off x="729450" y="1774925"/>
            <a:ext cx="2063775" cy="3131750"/>
          </a:xfrm>
          <a:prstGeom prst="rect">
            <a:avLst/>
          </a:prstGeom>
          <a:noFill/>
          <a:ln>
            <a:noFill/>
          </a:ln>
        </p:spPr>
      </p:pic>
      <p:pic>
        <p:nvPicPr>
          <p:cNvPr id="181" name="Google Shape;181;p26"/>
          <p:cNvPicPr preferRelativeResize="0"/>
          <p:nvPr/>
        </p:nvPicPr>
        <p:blipFill>
          <a:blip r:embed="rId4">
            <a:alphaModFix/>
          </a:blip>
          <a:stretch>
            <a:fillRect/>
          </a:stretch>
        </p:blipFill>
        <p:spPr>
          <a:xfrm>
            <a:off x="3146375" y="2818000"/>
            <a:ext cx="1781175" cy="1314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